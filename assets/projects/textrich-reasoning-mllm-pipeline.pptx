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c0303f75ed4ada" /><Relationship Type="http://schemas.openxmlformats.org/officeDocument/2006/relationships/extended-properties" Target="/docProps/app.xml" Id="R13a4c2866f67485b" /><Relationship Type="http://schemas.openxmlformats.org/officeDocument/2006/relationships/officeDocument" Target="/ppt/presentation.xml" Id="R091a198ab4f049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75aaa256c14a95"/>
  </p:sldMasterIdLst>
  <p:notesMasterIdLst>
    <p:notesMasterId xmlns:r="http://schemas.openxmlformats.org/officeDocument/2006/relationships" r:id="Ree5881e21d5c40a4"/>
  </p:notesMasterIdLst>
  <p:sldIdLst>
    <p:sldId xmlns:r="http://schemas.openxmlformats.org/officeDocument/2006/relationships" id="256" r:id="Raaa3cdf43a534eb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54109abcd4936" /><Relationship Type="http://schemas.openxmlformats.org/officeDocument/2006/relationships/slideMaster" Target="/ppt/slideMasters/slideMaster1.xml" Id="R3775aaa256c14a95" /><Relationship Type="http://schemas.openxmlformats.org/officeDocument/2006/relationships/notesMaster" Target="/ppt/notesMasters/notesMaster1.xml" Id="Ree5881e21d5c40a4" /><Relationship Type="http://schemas.openxmlformats.org/officeDocument/2006/relationships/presProps" Target="/ppt/presProps.xml" Id="R62a4d2395cdd4591" /><Relationship Type="http://schemas.openxmlformats.org/officeDocument/2006/relationships/tableStyles" Target="/ppt/tableStyles.xml" Id="R43ca5123d169438d" /><Relationship Type="http://schemas.openxmlformats.org/officeDocument/2006/relationships/slide" Target="/ppt/slides/slide1.xml" Id="Raaa3cdf43a534e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2d82c0d87843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9c10e0ab98401d" /><Relationship Type="http://schemas.openxmlformats.org/officeDocument/2006/relationships/notesMaster" Target="/ppt/notesMasters/notesMaster1.xml" Id="R1b77fab6a1b142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https://github.com/however-yang/TextRich-Reasoning-MLLM (README; method stages, configs, and reported results; accessed 2026-08-10)</a:t>
            </a:r>
          </a:p>
          <a:p xmlns:a="http://schemas.openxmlformats.org/drawingml/2006/main">
            <a:r>
              <a:t>- https://github.com/however-yang/TextRich-Reasoning-MLLM/blob/main/NLP_final.pdf (Figure 1, method details, and reported results; accessed 2026-08-10)</a:t>
            </a:r>
          </a:p>
          <a:p xmlns:a="http://schemas.openxmlformats.org/drawingml/2006/main">
            <a:r>
              <a:t>- All icons on this slide are original independent SVG line drawings authored for this editable teaser.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12589b76b46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31c56428ac41c9" /><Relationship Type="http://schemas.openxmlformats.org/officeDocument/2006/relationships/slideLayout" Target="/ppt/slideLayouts/slideLayout1.xml" Id="R025bf42b60a747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5bf42b60a747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006e309b149d5" /><Relationship Type="http://schemas.openxmlformats.org/officeDocument/2006/relationships/image" Target="/ppt/media/image.png" Id="Rf9dc0f6a3b834dea" /><Relationship Type="http://schemas.openxmlformats.org/officeDocument/2006/relationships/image" Target="/ppt/media/image.svg" Id="Rd8c7e5edbf644cbf" /><Relationship Type="http://schemas.openxmlformats.org/officeDocument/2006/relationships/image" Target="/ppt/media/image2.png" Id="R4a9265589fb84114" /><Relationship Type="http://schemas.openxmlformats.org/officeDocument/2006/relationships/image" Target="/ppt/media/image2.svg" Id="R7039ead605df48ff" /><Relationship Type="http://schemas.openxmlformats.org/officeDocument/2006/relationships/image" Target="/ppt/media/image3.png" Id="R413427586e1447b0" /><Relationship Type="http://schemas.openxmlformats.org/officeDocument/2006/relationships/image" Target="/ppt/media/image3.svg" Id="R0286483ad8a1480d" /><Relationship Type="http://schemas.openxmlformats.org/officeDocument/2006/relationships/image" Target="/ppt/media/image4.png" Id="R297254a77a0d43b7" /><Relationship Type="http://schemas.openxmlformats.org/officeDocument/2006/relationships/image" Target="/ppt/media/image4.svg" Id="Rab496b11bb8745e1" /><Relationship Type="http://schemas.openxmlformats.org/officeDocument/2006/relationships/image" Target="/ppt/media/image5.png" Id="Rf4930ddbb1fd4882" /><Relationship Type="http://schemas.openxmlformats.org/officeDocument/2006/relationships/image" Target="/ppt/media/image5.svg" Id="Rc2f9e2aad4864359" /><Relationship Type="http://schemas.openxmlformats.org/officeDocument/2006/relationships/image" Target="/ppt/media/image6.png" Id="R0ad1b7d42ce04b1a" /><Relationship Type="http://schemas.openxmlformats.org/officeDocument/2006/relationships/image" Target="/ppt/media/image6.svg" Id="R661205c0a6f647c6" /><Relationship Type="http://schemas.openxmlformats.org/officeDocument/2006/relationships/image" Target="/ppt/media/image7.png" Id="R48eddc0798434804" /><Relationship Type="http://schemas.openxmlformats.org/officeDocument/2006/relationships/image" Target="/ppt/media/image7.svg" Id="Re1844f271e234373" /><Relationship Type="http://schemas.openxmlformats.org/officeDocument/2006/relationships/image" Target="/ppt/media/image8.png" Id="Rfa809ea00b3f42b5" /><Relationship Type="http://schemas.openxmlformats.org/officeDocument/2006/relationships/image" Target="/ppt/media/image8.svg" Id="Rdabd29a0ddcc4efb" /><Relationship Type="http://schemas.openxmlformats.org/officeDocument/2006/relationships/image" Target="/ppt/media/image9.png" Id="R1210fb039afc463e" /><Relationship Type="http://schemas.openxmlformats.org/officeDocument/2006/relationships/image" Target="/ppt/media/image9.svg" Id="Rf7545b4b7bc54103" /><Relationship Type="http://schemas.openxmlformats.org/officeDocument/2006/relationships/image" Target="/ppt/media/image10.png" Id="Ra7fe606b7db04f12" /><Relationship Type="http://schemas.openxmlformats.org/officeDocument/2006/relationships/image" Target="/ppt/media/image10.svg" Id="Rbd918b5b06c444ae" /><Relationship Type="http://schemas.openxmlformats.org/officeDocument/2006/relationships/notesSlide" Target="/ppt/notesSlides/notesSlide1.xml" Id="R207327032e5b4d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title">
            <a:extLst xmlns:a="http://schemas.openxmlformats.org/drawingml/2006/main">
              <a:ext uri="{FF2B5EF4-FFF2-40B4-BE49-F238E27FC236}">
                <a16:creationId xmlns:a16="http://schemas.microsoft.com/office/drawing/2014/main" id="{DCFDA0D8-50E2-423C-8090-A4F5509E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390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173F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 i="0">
                <a:solidFill>
                  <a:srgbClr val="173F72"/>
                </a:solidFill>
                <a:latin typeface="Times New Roman"/>
                <a:ea typeface="Times New Roman"/>
                <a:cs typeface="Times New Roman"/>
              </a:rPr>
              <a:t>Task-aware adaptation for text-rich multimodal reasoning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15C111-9B5C-4A60-9336-A49C95D7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3900"/>
            <a:ext cx="1181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Unified data · progressive adaptation · validation-time oracle analysis</a:t>
            </a:r>
          </a:p>
        </p:txBody>
      </p:sp>
      <p:sp>
        <p:nvSpPr>
          <p:cNvPr id="3" name="section-inputs-band">
            <a:extLst xmlns:a="http://schemas.openxmlformats.org/drawingml/2006/main">
              <a:ext uri="{FF2B5EF4-FFF2-40B4-BE49-F238E27FC236}">
                <a16:creationId xmlns:a16="http://schemas.microsoft.com/office/drawing/2014/main" id="{44037FA8-E0B6-45E2-8830-456BA3FC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2476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F72"/>
          </a:solidFill>
          <a:ln xmlns:a="http://schemas.openxmlformats.org/drawingml/2006/main" w="9525">
            <a:solidFill>
              <a:srgbClr val="173F72"/>
            </a:solidFill>
            <a:prstDash val="solid"/>
          </a:ln>
        </p:spPr>
      </p:sp>
      <p:sp>
        <p:nvSpPr>
          <p:cNvPr id="4" name="section-inputs-label">
            <a:extLst xmlns:a="http://schemas.openxmlformats.org/drawingml/2006/main">
              <a:ext uri="{FF2B5EF4-FFF2-40B4-BE49-F238E27FC236}">
                <a16:creationId xmlns:a16="http://schemas.microsoft.com/office/drawing/2014/main" id="{974A995C-6520-4BAB-8205-E4970B8A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· UNIFIED TEXT-RICH INPUTS</a:t>
            </a:r>
          </a:p>
        </p:txBody>
      </p:sp>
      <p:sp>
        <p:nvSpPr>
          <p:cNvPr id="5" name="section-adaptation-band">
            <a:extLst xmlns:a="http://schemas.openxmlformats.org/drawingml/2006/main">
              <a:ext uri="{FF2B5EF4-FFF2-40B4-BE49-F238E27FC236}">
                <a16:creationId xmlns:a16="http://schemas.microsoft.com/office/drawing/2014/main" id="{1923BBE1-B45A-49DE-B25A-31BA035B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62050"/>
            <a:ext cx="7124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E55B6"/>
          </a:solidFill>
          <a:ln xmlns:a="http://schemas.openxmlformats.org/drawingml/2006/main" w="9525">
            <a:solidFill>
              <a:srgbClr val="6E55B6"/>
            </a:solidFill>
            <a:prstDash val="solid"/>
          </a:ln>
        </p:spPr>
      </p:sp>
      <p:sp>
        <p:nvSpPr>
          <p:cNvPr id="6" name="section-adaptation-label">
            <a:extLst xmlns:a="http://schemas.openxmlformats.org/drawingml/2006/main">
              <a:ext uri="{FF2B5EF4-FFF2-40B4-BE49-F238E27FC236}">
                <a16:creationId xmlns:a16="http://schemas.microsoft.com/office/drawing/2014/main" id="{D9661F62-2253-49DB-A034-7508700A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62050"/>
            <a:ext cx="697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· PROGRESSIVE ADAPTATION</a:t>
            </a:r>
          </a:p>
        </p:txBody>
      </p:sp>
      <p:sp>
        <p:nvSpPr>
          <p:cNvPr id="7" name="section-oracle-band">
            <a:extLst xmlns:a="http://schemas.openxmlformats.org/drawingml/2006/main">
              <a:ext uri="{FF2B5EF4-FFF2-40B4-BE49-F238E27FC236}">
                <a16:creationId xmlns:a16="http://schemas.microsoft.com/office/drawing/2014/main" id="{1BCF290E-BA77-4457-8F46-9A59B775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162050"/>
            <a:ext cx="419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8C93"/>
          </a:solidFill>
          <a:ln xmlns:a="http://schemas.openxmlformats.org/drawingml/2006/main" w="9525">
            <a:solidFill>
              <a:srgbClr val="168C93"/>
            </a:solidFill>
            <a:prstDash val="solid"/>
          </a:ln>
        </p:spPr>
      </p:sp>
      <p:sp>
        <p:nvSpPr>
          <p:cNvPr id="8" name="section-oracle-label">
            <a:extLst xmlns:a="http://schemas.openxmlformats.org/drawingml/2006/main">
              <a:ext uri="{FF2B5EF4-FFF2-40B4-BE49-F238E27FC236}">
                <a16:creationId xmlns:a16="http://schemas.microsoft.com/office/drawing/2014/main" id="{4CB49D25-C44D-4C83-AB3E-EE651F5D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6205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· VALIDATION-TIME ORACLE</a:t>
            </a:r>
          </a:p>
        </p:txBody>
      </p:sp>
      <p:sp>
        <p:nvSpPr>
          <p:cNvPr id="9" name="divider-input-adaptation">
            <a:extLst xmlns:a="http://schemas.openxmlformats.org/drawingml/2006/main">
              <a:ext uri="{FF2B5EF4-FFF2-40B4-BE49-F238E27FC236}">
                <a16:creationId xmlns:a16="http://schemas.microsoft.com/office/drawing/2014/main" id="{DFC9D0AE-F361-4934-B772-5EE37A30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143000"/>
            <a:ext cx="0" cy="541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10" name="divider-adaptation-oracle">
            <a:extLst xmlns:a="http://schemas.openxmlformats.org/drawingml/2006/main">
              <a:ext uri="{FF2B5EF4-FFF2-40B4-BE49-F238E27FC236}">
                <a16:creationId xmlns:a16="http://schemas.microsoft.com/office/drawing/2014/main" id="{76EB1DD1-0542-487F-BF7E-7DC8046F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143000"/>
            <a:ext cx="0" cy="541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11" name="inputs-panel">
            <a:extLst xmlns:a="http://schemas.openxmlformats.org/drawingml/2006/main">
              <a:ext uri="{FF2B5EF4-FFF2-40B4-BE49-F238E27FC236}">
                <a16:creationId xmlns:a16="http://schemas.microsoft.com/office/drawing/2014/main" id="{34BA2BFD-C149-4CE9-86EC-A2986714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476500" cy="4762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12" name="dataset-DocVQA">
            <a:extLst xmlns:a="http://schemas.openxmlformats.org/drawingml/2006/main">
              <a:ext uri="{FF2B5EF4-FFF2-40B4-BE49-F238E27FC236}">
                <a16:creationId xmlns:a16="http://schemas.microsoft.com/office/drawing/2014/main" id="{C5BE1E66-E784-4011-94C6-DDE99FC5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066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19050">
            <a:solidFill>
              <a:srgbClr val="2763A5"/>
            </a:solidFill>
            <a:prstDash val="solid"/>
          </a:ln>
        </p:spPr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c0f6a3b834dea">
            <a:extLst>
              <a:ext uri="{96DAC541-7B7A-43D3-8B79-37D633B846F1}">
                <asvg:svgBlip xmlns:asvg="http://schemas.microsoft.com/office/drawing/2016/SVG/main" r:embed="Rd8c7e5edbf644c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19812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4" name="label-DocVQA">
            <a:extLst xmlns:a="http://schemas.openxmlformats.org/drawingml/2006/main">
              <a:ext uri="{FF2B5EF4-FFF2-40B4-BE49-F238E27FC236}">
                <a16:creationId xmlns:a16="http://schemas.microsoft.com/office/drawing/2014/main" id="{2A4C4100-05E4-4E75-B749-00A5ABBD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717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rPr>
              <a:t>DocVQA</a:t>
            </a:r>
          </a:p>
        </p:txBody>
      </p:sp>
      <p:sp>
        <p:nvSpPr>
          <p:cNvPr id="15" name="dataset-ChartQA">
            <a:extLst xmlns:a="http://schemas.openxmlformats.org/drawingml/2006/main">
              <a:ext uri="{FF2B5EF4-FFF2-40B4-BE49-F238E27FC236}">
                <a16:creationId xmlns:a16="http://schemas.microsoft.com/office/drawing/2014/main" id="{E051FFEF-F030-4B61-B5DB-E0D7B49A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05000"/>
            <a:ext cx="1066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BFB"/>
          </a:solidFill>
          <a:ln xmlns:a="http://schemas.openxmlformats.org/drawingml/2006/main" w="19050">
            <a:solidFill>
              <a:srgbClr val="168C93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265589fb84114">
            <a:extLst>
              <a:ext uri="{96DAC541-7B7A-43D3-8B79-37D633B846F1}">
                <asvg:svgBlip xmlns:asvg="http://schemas.microsoft.com/office/drawing/2016/SVG/main" r:embed="R7039ead605df48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95500" y="19812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7" name="label-ChartQA">
            <a:extLst xmlns:a="http://schemas.openxmlformats.org/drawingml/2006/main">
              <a:ext uri="{FF2B5EF4-FFF2-40B4-BE49-F238E27FC236}">
                <a16:creationId xmlns:a16="http://schemas.microsoft.com/office/drawing/2014/main" id="{B09F3D84-E923-4EDF-B404-E11C31DB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717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ChartQA</a:t>
            </a:r>
          </a:p>
        </p:txBody>
      </p:sp>
      <p:sp>
        <p:nvSpPr>
          <p:cNvPr id="18" name="dataset-ScienceQA">
            <a:extLst xmlns:a="http://schemas.openxmlformats.org/drawingml/2006/main">
              <a:ext uri="{FF2B5EF4-FFF2-40B4-BE49-F238E27FC236}">
                <a16:creationId xmlns:a16="http://schemas.microsoft.com/office/drawing/2014/main" id="{0CE9982D-4E11-4723-81EF-70357C4D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1066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1FC"/>
          </a:solidFill>
          <a:ln xmlns:a="http://schemas.openxmlformats.org/drawingml/2006/main" w="19050">
            <a:solidFill>
              <a:srgbClr val="6E55B6"/>
            </a:solidFill>
            <a:prstDash val="solid"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427586e1447b0">
            <a:extLst>
              <a:ext uri="{96DAC541-7B7A-43D3-8B79-37D633B846F1}">
                <asvg:svgBlip xmlns:asvg="http://schemas.microsoft.com/office/drawing/2016/SVG/main" r:embed="R0286483ad8a148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9813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label-ScienceQA">
            <a:extLst xmlns:a="http://schemas.openxmlformats.org/drawingml/2006/main">
              <a:ext uri="{FF2B5EF4-FFF2-40B4-BE49-F238E27FC236}">
                <a16:creationId xmlns:a16="http://schemas.microsoft.com/office/drawing/2014/main" id="{0A3199FE-613F-459B-86BA-2F54B196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718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E55B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6E55B6"/>
                </a:solidFill>
                <a:latin typeface="Times New Roman"/>
                <a:ea typeface="Times New Roman"/>
                <a:cs typeface="Times New Roman"/>
              </a:rPr>
              <a:t>ScienceQA</a:t>
            </a:r>
          </a:p>
        </p:txBody>
      </p:sp>
      <p:sp>
        <p:nvSpPr>
          <p:cNvPr id="21" name="dataset-MMMU">
            <a:extLst xmlns:a="http://schemas.openxmlformats.org/drawingml/2006/main">
              <a:ext uri="{FF2B5EF4-FFF2-40B4-BE49-F238E27FC236}">
                <a16:creationId xmlns:a16="http://schemas.microsoft.com/office/drawing/2014/main" id="{6E2E64EB-7881-4B1B-80F4-3ED43C18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05125"/>
            <a:ext cx="1066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6EF"/>
          </a:solidFill>
          <a:ln xmlns:a="http://schemas.openxmlformats.org/drawingml/2006/main" w="19050">
            <a:solidFill>
              <a:srgbClr val="D36B2D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254a77a0d43b7">
            <a:extLst>
              <a:ext uri="{96DAC541-7B7A-43D3-8B79-37D633B846F1}">
                <asvg:svgBlip xmlns:asvg="http://schemas.microsoft.com/office/drawing/2016/SVG/main" r:embed="Rab496b11bb8745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95500" y="29813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3" name="label-MMMU">
            <a:extLst xmlns:a="http://schemas.openxmlformats.org/drawingml/2006/main">
              <a:ext uri="{FF2B5EF4-FFF2-40B4-BE49-F238E27FC236}">
                <a16:creationId xmlns:a16="http://schemas.microsoft.com/office/drawing/2014/main" id="{1C12A785-9D58-4737-A71A-80FE9F2A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3718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36B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D36B2D"/>
                </a:solidFill>
                <a:latin typeface="Times New Roman"/>
                <a:ea typeface="Times New Roman"/>
                <a:cs typeface="Times New Roman"/>
              </a:rPr>
              <a:t>MMMU</a:t>
            </a:r>
          </a:p>
        </p:txBody>
      </p:sp>
      <p:sp>
        <p:nvSpPr>
          <p:cNvPr id="24" name="unified-sample">
            <a:extLst xmlns:a="http://schemas.openxmlformats.org/drawingml/2006/main">
              <a:ext uri="{FF2B5EF4-FFF2-40B4-BE49-F238E27FC236}">
                <a16:creationId xmlns:a16="http://schemas.microsoft.com/office/drawing/2014/main" id="{B8DD2625-B30E-4F77-8F47-A051B6E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019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F72"/>
            </a:solidFill>
            <a:prstDash val="solid"/>
          </a:ln>
        </p:spPr>
      </p:sp>
      <p:sp>
        <p:nvSpPr>
          <p:cNvPr id="25" name="unified-sample-title">
            <a:extLst xmlns:a="http://schemas.openxmlformats.org/drawingml/2006/main">
              <a:ext uri="{FF2B5EF4-FFF2-40B4-BE49-F238E27FC236}">
                <a16:creationId xmlns:a16="http://schemas.microsoft.com/office/drawing/2014/main" id="{18847E42-70EA-43B8-BC73-D29FBB5E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F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73F72"/>
                </a:solidFill>
                <a:latin typeface="Times New Roman"/>
                <a:ea typeface="Times New Roman"/>
                <a:cs typeface="Times New Roman"/>
              </a:rPr>
              <a:t>UnifiedSample</a:t>
            </a:r>
          </a:p>
        </p:txBody>
      </p:sp>
      <p:sp>
        <p:nvSpPr>
          <p:cNvPr id="26" name="unified-sample-fields">
            <a:extLst xmlns:a="http://schemas.openxmlformats.org/drawingml/2006/main">
              <a:ext uri="{FF2B5EF4-FFF2-40B4-BE49-F238E27FC236}">
                <a16:creationId xmlns:a16="http://schemas.microsoft.com/office/drawing/2014/main" id="{69022A18-4673-465F-95FA-BC80A4D0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image · question · task id · gold answer</a:t>
            </a:r>
          </a:p>
        </p:txBody>
      </p:sp>
      <p:sp>
        <p:nvSpPr>
          <p:cNvPr id="27" name="structured-prompt">
            <a:extLst xmlns:a="http://schemas.openxmlformats.org/drawingml/2006/main">
              <a:ext uri="{FF2B5EF4-FFF2-40B4-BE49-F238E27FC236}">
                <a16:creationId xmlns:a16="http://schemas.microsoft.com/office/drawing/2014/main" id="{4536FFBF-E2E1-4A66-B44E-33B503FA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19050">
            <a:solidFill>
              <a:srgbClr val="2763A5"/>
            </a:solidFill>
            <a:prstDash val="solid"/>
          </a:ln>
        </p:spPr>
      </p:sp>
      <p:sp>
        <p:nvSpPr>
          <p:cNvPr id="28" name="structured-prompt-title">
            <a:extLst xmlns:a="http://schemas.openxmlformats.org/drawingml/2006/main">
              <a:ext uri="{FF2B5EF4-FFF2-40B4-BE49-F238E27FC236}">
                <a16:creationId xmlns:a16="http://schemas.microsoft.com/office/drawing/2014/main" id="{A8832653-440E-415B-8BC6-F86A664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rPr>
              <a:t>Structured prompt</a:t>
            </a:r>
          </a:p>
        </p:txBody>
      </p:sp>
      <p:sp>
        <p:nvSpPr>
          <p:cNvPr id="29" name="structured-prompt-detail">
            <a:extLst xmlns:a="http://schemas.openxmlformats.org/drawingml/2006/main">
              <a:ext uri="{FF2B5EF4-FFF2-40B4-BE49-F238E27FC236}">
                <a16:creationId xmlns:a16="http://schemas.microsoft.com/office/drawing/2014/main" id="{14ECCB8A-B330-4604-9743-CDCC59FD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task-specific answer constraints</a:t>
            </a:r>
          </a:p>
        </p:txBody>
      </p:sp>
      <p:cxnSp>
        <p:nvCxnSpPr>
          <p:cNvPr id="176" name=""/>
          <p:cNvCxnSpPr>
            <a:stCxn xmlns:a="http://schemas.openxmlformats.org/drawingml/2006/main" id="1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123950" y="2743200"/>
            <a:ext cx="571500" cy="1219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AB7C6"/>
            </a:solidFill>
            <a:prstDash val="solid"/>
            <a:tailEnd type="arrow" w="med" len="med"/>
          </a:ln>
        </p:spPr>
      </p:cxnSp>
      <p:cxnSp>
        <p:nvCxnSpPr>
          <p:cNvPr id="177" name=""/>
          <p:cNvCxnSpPr>
            <a:stCxn xmlns:a="http://schemas.openxmlformats.org/drawingml/2006/main" id="15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1695450" y="2743200"/>
            <a:ext cx="571500" cy="1219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AB7C6"/>
            </a:solidFill>
            <a:prstDash val="solid"/>
            <a:tailEnd type="arrow" w="med" len="med"/>
          </a:ln>
        </p:spPr>
      </p:cxnSp>
      <p:cxnSp>
        <p:nvCxnSpPr>
          <p:cNvPr id="178" name=""/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123950" y="3743325"/>
            <a:ext cx="571500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AB7C6"/>
            </a:solidFill>
            <a:prstDash val="solid"/>
            <a:tailEnd type="arrow" w="med" len="med"/>
          </a:ln>
        </p:spPr>
      </p:cxnSp>
      <p:cxnSp>
        <p:nvCxnSpPr>
          <p:cNvPr id="179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1695450" y="3743325"/>
            <a:ext cx="571500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AB7C6"/>
            </a:solidFill>
            <a:prstDash val="solid"/>
            <a:tailEnd type="arrow" w="med" len="med"/>
          </a:ln>
        </p:spPr>
      </p:cxnSp>
      <p:cxnSp>
        <p:nvCxnSpPr>
          <p:cNvPr id="180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695450" y="46482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3A5"/>
            </a:solidFill>
            <a:prstDash val="solid"/>
            <a:tailEnd type="arrow" w="med" len="med"/>
          </a:ln>
        </p:spPr>
      </p:cxnSp>
      <p:sp>
        <p:nvSpPr>
          <p:cNvPr id="35" name="train-split">
            <a:extLst xmlns:a="http://schemas.openxmlformats.org/drawingml/2006/main">
              <a:ext uri="{FF2B5EF4-FFF2-40B4-BE49-F238E27FC236}">
                <a16:creationId xmlns:a16="http://schemas.microsoft.com/office/drawing/2014/main" id="{CC127B89-AC64-420E-B77F-38B97698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245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F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73F72"/>
                </a:solidFill>
                <a:latin typeface="Times New Roman"/>
                <a:ea typeface="Times New Roman"/>
                <a:cs typeface="Times New Roman"/>
              </a:rPr>
              <a:t>TRAIN · DocVQA + ChartQA</a:t>
            </a:r>
          </a:p>
        </p:txBody>
      </p:sp>
      <p:sp>
        <p:nvSpPr>
          <p:cNvPr id="36" name="external-split">
            <a:extLst xmlns:a="http://schemas.openxmlformats.org/drawingml/2006/main">
              <a:ext uri="{FF2B5EF4-FFF2-40B4-BE49-F238E27FC236}">
                <a16:creationId xmlns:a16="http://schemas.microsoft.com/office/drawing/2014/main" id="{E989876C-1B79-4AB5-899B-5378CA2D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102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E55B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6E55B6"/>
                </a:solidFill>
                <a:latin typeface="Times New Roman"/>
                <a:ea typeface="Times New Roman"/>
                <a:cs typeface="Times New Roman"/>
              </a:rPr>
              <a:t>EXTERNAL EVAL · ScienceQA + MMMU</a:t>
            </a:r>
          </a:p>
        </p:txBody>
      </p:sp>
      <p:sp>
        <p:nvSpPr>
          <p:cNvPr id="37" name="dora-card">
            <a:extLst xmlns:a="http://schemas.openxmlformats.org/drawingml/2006/main">
              <a:ext uri="{FF2B5EF4-FFF2-40B4-BE49-F238E27FC236}">
                <a16:creationId xmlns:a16="http://schemas.microsoft.com/office/drawing/2014/main" id="{3500B410-61AE-4AAB-9AD2-7F942992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0"/>
            <a:ext cx="2095500" cy="4762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28575">
            <a:solidFill>
              <a:srgbClr val="2763A5"/>
            </a:solidFill>
            <a:prstDash val="solid"/>
          </a:ln>
        </p:spPr>
      </p:sp>
      <p:cxnSp>
        <p:nvCxnSpPr>
          <p:cNvPr id="184" name=""/>
          <p:cNvCxnSpPr>
            <a:stCxn xmlns:a="http://schemas.openxmlformats.org/drawingml/2006/main" id="27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2705100" y="4095750"/>
            <a:ext cx="60960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>
            <a:solidFill>
              <a:srgbClr val="2763A5"/>
            </a:solidFill>
            <a:prstDash val="solid"/>
            <a:tailEnd type="arrow" w="med" len="med"/>
          </a:ln>
        </p:spPr>
      </p:cxnSp>
      <p:sp>
        <p:nvSpPr>
          <p:cNvPr id="39" name="dora-stage-circle">
            <a:extLst xmlns:a="http://schemas.openxmlformats.org/drawingml/2006/main">
              <a:ext uri="{FF2B5EF4-FFF2-40B4-BE49-F238E27FC236}">
                <a16:creationId xmlns:a16="http://schemas.microsoft.com/office/drawing/2014/main" id="{7D91DD7C-3E6D-4DE4-A137-8A706AFE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4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3A5"/>
          </a:solidFill>
          <a:ln xmlns:a="http://schemas.openxmlformats.org/drawingml/2006/main" w="9525">
            <a:solidFill>
              <a:srgbClr val="2763A5"/>
            </a:solidFill>
            <a:prstDash val="solid"/>
          </a:ln>
        </p:spPr>
      </p:sp>
      <p:sp>
        <p:nvSpPr>
          <p:cNvPr id="40" name="dora-stage-text">
            <a:extLst xmlns:a="http://schemas.openxmlformats.org/drawingml/2006/main">
              <a:ext uri="{FF2B5EF4-FFF2-40B4-BE49-F238E27FC236}">
                <a16:creationId xmlns:a16="http://schemas.microsoft.com/office/drawing/2014/main" id="{CD68C575-D952-436A-92CE-CFAFA0AC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383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30ddbb1fd4882">
            <a:extLst>
              <a:ext uri="{96DAC541-7B7A-43D3-8B79-37D633B846F1}">
                <asvg:svgBlip xmlns:asvg="http://schemas.microsoft.com/office/drawing/2016/SVG/main" r:embed="Rc2f9e2aad48643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29075" y="1971675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2" name="dora-title">
            <a:extLst xmlns:a="http://schemas.openxmlformats.org/drawingml/2006/main">
              <a:ext uri="{FF2B5EF4-FFF2-40B4-BE49-F238E27FC236}">
                <a16:creationId xmlns:a16="http://schemas.microsoft.com/office/drawing/2014/main" id="{B24116CD-A8EB-4657-AC7D-4032656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241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rPr>
              <a:t>DoRA SFT</a:t>
            </a:r>
          </a:p>
        </p:txBody>
      </p:sp>
      <p:sp>
        <p:nvSpPr>
          <p:cNvPr id="43" name="dora-backbone">
            <a:extLst xmlns:a="http://schemas.openxmlformats.org/drawingml/2006/main">
              <a:ext uri="{FF2B5EF4-FFF2-40B4-BE49-F238E27FC236}">
                <a16:creationId xmlns:a16="http://schemas.microsoft.com/office/drawing/2014/main" id="{D1710E4B-8F27-4187-B583-A540F216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242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Qwen3-VL-8B-Instruct</a:t>
            </a:r>
          </a:p>
        </p:txBody>
      </p:sp>
      <p:sp>
        <p:nvSpPr>
          <p:cNvPr id="44" name="dora-answer-only-box">
            <a:extLst xmlns:a="http://schemas.openxmlformats.org/drawingml/2006/main">
              <a:ext uri="{FF2B5EF4-FFF2-40B4-BE49-F238E27FC236}">
                <a16:creationId xmlns:a16="http://schemas.microsoft.com/office/drawing/2014/main" id="{D0F0CCB1-81E2-4984-B825-22804067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38550"/>
            <a:ext cx="163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3A5"/>
            </a:solidFill>
            <a:prstDash val="solid"/>
          </a:ln>
        </p:spPr>
      </p:sp>
      <p:sp>
        <p:nvSpPr>
          <p:cNvPr id="45" name="dora-answer-only">
            <a:extLst xmlns:a="http://schemas.openxmlformats.org/drawingml/2006/main">
              <a:ext uri="{FF2B5EF4-FFF2-40B4-BE49-F238E27FC236}">
                <a16:creationId xmlns:a16="http://schemas.microsoft.com/office/drawing/2014/main" id="{6C2D8D5A-94B5-4AED-A139-B0EC355C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rPr>
              <a:t>Answer-only PEFT</a:t>
            </a:r>
          </a:p>
        </p:txBody>
      </p:sp>
      <p:sp>
        <p:nvSpPr>
          <p:cNvPr id="46" name="dora-modules">
            <a:extLst xmlns:a="http://schemas.openxmlformats.org/drawingml/2006/main">
              <a:ext uri="{FF2B5EF4-FFF2-40B4-BE49-F238E27FC236}">
                <a16:creationId xmlns:a16="http://schemas.microsoft.com/office/drawing/2014/main" id="{B888D7AE-E36C-44F1-A3BA-B0BEC1D6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q / k / v / o projections</a:t>
            </a:r>
          </a:p>
        </p:txBody>
      </p:sp>
      <p:sp>
        <p:nvSpPr>
          <p:cNvPr id="47" name="dora-hparams">
            <a:extLst xmlns:a="http://schemas.openxmlformats.org/drawingml/2006/main">
              <a:ext uri="{FF2B5EF4-FFF2-40B4-BE49-F238E27FC236}">
                <a16:creationId xmlns:a16="http://schemas.microsoft.com/office/drawing/2014/main" id="{9C39592A-EAD2-4B13-A382-EF7B460C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7202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r = 48 · α = 96 · dropout 0.05</a:t>
            </a:r>
          </a:p>
        </p:txBody>
      </p:sp>
      <p:sp>
        <p:nvSpPr>
          <p:cNvPr id="48" name="dora-selected">
            <a:extLst xmlns:a="http://schemas.openxmlformats.org/drawingml/2006/main">
              <a:ext uri="{FF2B5EF4-FFF2-40B4-BE49-F238E27FC236}">
                <a16:creationId xmlns:a16="http://schemas.microsoft.com/office/drawing/2014/main" id="{B3D77EB9-C474-41A2-AA99-69CD7563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324475"/>
            <a:ext cx="142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9F5"/>
          </a:solidFill>
          <a:ln xmlns:a="http://schemas.openxmlformats.org/drawingml/2006/main" w="19050">
            <a:solidFill>
              <a:srgbClr val="168066"/>
            </a:solidFill>
            <a:prstDash val="solid"/>
          </a:ln>
        </p:spPr>
      </p:sp>
      <p:sp>
        <p:nvSpPr>
          <p:cNvPr id="49" name="dora-selected-text">
            <a:extLst xmlns:a="http://schemas.openxmlformats.org/drawingml/2006/main">
              <a:ext uri="{FF2B5EF4-FFF2-40B4-BE49-F238E27FC236}">
                <a16:creationId xmlns:a16="http://schemas.microsoft.com/office/drawing/2014/main" id="{1CC2C907-2F91-4A92-AD46-5D1DF877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8162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rPr>
              <a:t>selected checkpoint</a:t>
            </a:r>
          </a:p>
        </p:txBody>
      </p:sp>
      <p:sp>
        <p:nvSpPr>
          <p:cNvPr id="50" name="dora-note">
            <a:extLst xmlns:a="http://schemas.openxmlformats.org/drawingml/2006/main">
              <a:ext uri="{FF2B5EF4-FFF2-40B4-BE49-F238E27FC236}">
                <a16:creationId xmlns:a16="http://schemas.microsoft.com/office/drawing/2014/main" id="{EC32C7AC-0EBD-42BF-B120-80EAE62B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436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stronger in-domain SFT base</a:t>
            </a:r>
          </a:p>
        </p:txBody>
      </p:sp>
      <p:sp>
        <p:nvSpPr>
          <p:cNvPr id="51" name="tra-card">
            <a:extLst xmlns:a="http://schemas.openxmlformats.org/drawingml/2006/main">
              <a:ext uri="{FF2B5EF4-FFF2-40B4-BE49-F238E27FC236}">
                <a16:creationId xmlns:a16="http://schemas.microsoft.com/office/drawing/2014/main" id="{EF953AA3-3386-436C-B619-F58C032E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2362200" cy="4762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4FB"/>
          </a:solidFill>
          <a:ln xmlns:a="http://schemas.openxmlformats.org/drawingml/2006/main" w="28575">
            <a:solidFill>
              <a:srgbClr val="A43C7C"/>
            </a:solidFill>
            <a:prstDash val="solid"/>
          </a:ln>
        </p:spPr>
      </p:sp>
      <p:sp>
        <p:nvSpPr>
          <p:cNvPr id="52" name="tra-stage-circle">
            <a:extLst xmlns:a="http://schemas.openxmlformats.org/drawingml/2006/main">
              <a:ext uri="{FF2B5EF4-FFF2-40B4-BE49-F238E27FC236}">
                <a16:creationId xmlns:a16="http://schemas.microsoft.com/office/drawing/2014/main" id="{A1AE38FA-1ADE-4843-99F5-A8DE9CDF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4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3C7C"/>
          </a:solidFill>
          <a:ln xmlns:a="http://schemas.openxmlformats.org/drawingml/2006/main" w="9525">
            <a:solidFill>
              <a:srgbClr val="A43C7C"/>
            </a:solidFill>
            <a:prstDash val="solid"/>
          </a:ln>
        </p:spPr>
      </p:sp>
      <p:sp>
        <p:nvSpPr>
          <p:cNvPr id="53" name="tra-stage-text">
            <a:extLst xmlns:a="http://schemas.openxmlformats.org/drawingml/2006/main">
              <a:ext uri="{FF2B5EF4-FFF2-40B4-BE49-F238E27FC236}">
                <a16:creationId xmlns:a16="http://schemas.microsoft.com/office/drawing/2014/main" id="{0123E03B-4C95-497E-8C61-140A2BA7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383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1b7d42ce04b1a">
            <a:extLst>
              <a:ext uri="{96DAC541-7B7A-43D3-8B79-37D633B846F1}">
                <asvg:svgBlip xmlns:asvg="http://schemas.microsoft.com/office/drawing/2016/SVG/main" r:embed="R661205c0a6f647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57950" y="1952625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55" name="tra-title">
            <a:extLst xmlns:a="http://schemas.openxmlformats.org/drawingml/2006/main">
              <a:ext uri="{FF2B5EF4-FFF2-40B4-BE49-F238E27FC236}">
                <a16:creationId xmlns:a16="http://schemas.microsoft.com/office/drawing/2014/main" id="{0C429D06-A985-45DB-8584-F100CAE2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rPr>
              <a:t>Task-Aware TRA</a:t>
            </a:r>
          </a:p>
        </p:txBody>
      </p:sp>
      <p:sp>
        <p:nvSpPr>
          <p:cNvPr id="56" name="tra-subtitle">
            <a:extLst xmlns:a="http://schemas.openxmlformats.org/drawingml/2006/main">
              <a:ext uri="{FF2B5EF4-FFF2-40B4-BE49-F238E27FC236}">
                <a16:creationId xmlns:a16="http://schemas.microsoft.com/office/drawing/2014/main" id="{B9480773-FBE9-4C7B-8B12-8825ED45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Text-Rich Adapter</a:t>
            </a:r>
          </a:p>
        </p:txBody>
      </p:sp>
      <p:sp>
        <p:nvSpPr>
          <p:cNvPr id="57" name="tra-task-id">
            <a:extLst xmlns:a="http://schemas.openxmlformats.org/drawingml/2006/main">
              <a:ext uri="{FF2B5EF4-FFF2-40B4-BE49-F238E27FC236}">
                <a16:creationId xmlns:a16="http://schemas.microsoft.com/office/drawing/2014/main" id="{A2D06BD7-FC9F-4D5C-A44D-4951A0F4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14750"/>
            <a:ext cx="552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43C7C"/>
            </a:solidFill>
            <a:prstDash val="solid"/>
          </a:ln>
        </p:spPr>
      </p:sp>
      <p:sp>
        <p:nvSpPr>
          <p:cNvPr id="58" name="tra-task-id-text">
            <a:extLst xmlns:a="http://schemas.openxmlformats.org/drawingml/2006/main">
              <a:ext uri="{FF2B5EF4-FFF2-40B4-BE49-F238E27FC236}">
                <a16:creationId xmlns:a16="http://schemas.microsoft.com/office/drawing/2014/main" id="{8DCF91EA-90B4-439E-87AF-29F39C42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338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  <a:p xmlns:a="http://schemas.openxmlformats.org/drawingml/2006/main">
            <a:pPr algn="ctr">
              <a:defRPr sz="1275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rPr>
              <a:t>ID</a:t>
            </a:r>
          </a:p>
        </p:txBody>
      </p:sp>
      <p:sp>
        <p:nvSpPr>
          <p:cNvPr id="59" name="tra-bottleneck">
            <a:extLst xmlns:a="http://schemas.openxmlformats.org/drawingml/2006/main">
              <a:ext uri="{FF2B5EF4-FFF2-40B4-BE49-F238E27FC236}">
                <a16:creationId xmlns:a16="http://schemas.microsoft.com/office/drawing/2014/main" id="{4A76C4C3-EBC4-4C54-80F5-347792C8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723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43C7C"/>
            </a:solidFill>
            <a:prstDash val="solid"/>
          </a:ln>
        </p:spPr>
      </p:sp>
      <p:sp>
        <p:nvSpPr>
          <p:cNvPr id="60" name="tra-bottleneck-text">
            <a:extLst xmlns:a="http://schemas.openxmlformats.org/drawingml/2006/main">
              <a:ext uri="{FF2B5EF4-FFF2-40B4-BE49-F238E27FC236}">
                <a16:creationId xmlns:a16="http://schemas.microsoft.com/office/drawing/2014/main" id="{4F7BE684-A1C6-4A44-8858-26EE7F3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rank-64</a:t>
            </a:r>
          </a:p>
          <a:p xmlns:a="http://schemas.openxmlformats.org/drawingml/2006/main">
            <a:pPr algn="ctr">
              <a:defRPr sz="11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bottleneck</a:t>
            </a:r>
          </a:p>
        </p:txBody>
      </p:sp>
      <p:sp>
        <p:nvSpPr>
          <p:cNvPr id="61" name="tra-gate">
            <a:extLst xmlns:a="http://schemas.openxmlformats.org/drawingml/2006/main">
              <a:ext uri="{FF2B5EF4-FFF2-40B4-BE49-F238E27FC236}">
                <a16:creationId xmlns:a16="http://schemas.microsoft.com/office/drawing/2014/main" id="{F0174E50-D620-40FA-85FC-A7CF9DB4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14750"/>
            <a:ext cx="476250" cy="4953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FF9F5"/>
          </a:solidFill>
          <a:ln xmlns:a="http://schemas.openxmlformats.org/drawingml/2006/main" w="19050">
            <a:solidFill>
              <a:srgbClr val="168066"/>
            </a:solidFill>
            <a:prstDash val="solid"/>
          </a:ln>
        </p:spPr>
      </p:sp>
      <p:sp>
        <p:nvSpPr>
          <p:cNvPr id="62" name="tra-gate-text">
            <a:extLst xmlns:a="http://schemas.openxmlformats.org/drawingml/2006/main">
              <a:ext uri="{FF2B5EF4-FFF2-40B4-BE49-F238E27FC236}">
                <a16:creationId xmlns:a16="http://schemas.microsoft.com/office/drawing/2014/main" id="{FB352165-0CE4-49EB-9A0D-961C20B7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909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rPr>
              <a:t>gate</a:t>
            </a:r>
          </a:p>
        </p:txBody>
      </p:sp>
      <p:cxnSp>
        <p:nvCxnSpPr>
          <p:cNvPr id="209" name=""/>
          <p:cNvCxnSpPr>
            <a:stCxn xmlns:a="http://schemas.openxmlformats.org/drawingml/2006/main" id="57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6334125" y="3962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43C7C"/>
            </a:solidFill>
            <a:prstDash val="solid"/>
            <a:tailEnd type="arrow" w="med" len="med"/>
          </a:ln>
        </p:spPr>
      </p:cxnSp>
      <p:cxnSp>
        <p:nvCxnSpPr>
          <p:cNvPr id="210" name=""/>
          <p:cNvCxnSpPr>
            <a:stCxn xmlns:a="http://schemas.openxmlformats.org/drawingml/2006/main" id="59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7200900" y="39624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066"/>
            </a:solidFill>
            <a:prstDash val="solid"/>
            <a:tailEnd type="arrow" w="med" len="med"/>
          </a:ln>
        </p:spPr>
      </p:cxnSp>
      <p:sp>
        <p:nvSpPr>
          <p:cNvPr id="65" name="tra-path-label">
            <a:extLst xmlns:a="http://schemas.openxmlformats.org/drawingml/2006/main">
              <a:ext uri="{FF2B5EF4-FFF2-40B4-BE49-F238E27FC236}">
                <a16:creationId xmlns:a16="http://schemas.microsoft.com/office/drawing/2014/main" id="{893CB710-33E9-4F3A-8A6B-3146B17D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148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task embedding → gated residual update</a:t>
            </a:r>
          </a:p>
        </p:txBody>
      </p:sp>
      <p:sp>
        <p:nvSpPr>
          <p:cNvPr id="66" name="tra-layer-label">
            <a:extLst xmlns:a="http://schemas.openxmlformats.org/drawingml/2006/main">
              <a:ext uri="{FF2B5EF4-FFF2-40B4-BE49-F238E27FC236}">
                <a16:creationId xmlns:a16="http://schemas.microsoft.com/office/drawing/2014/main" id="{AB76C1BF-CA05-4F06-8AA8-3D77283F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815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inserted after decoder layers</a:t>
            </a:r>
          </a:p>
        </p:txBody>
      </p:sp>
      <p:sp>
        <p:nvSpPr>
          <p:cNvPr id="67" name="tra-layer-16">
            <a:extLst xmlns:a="http://schemas.openxmlformats.org/drawingml/2006/main">
              <a:ext uri="{FF2B5EF4-FFF2-40B4-BE49-F238E27FC236}">
                <a16:creationId xmlns:a16="http://schemas.microsoft.com/office/drawing/2014/main" id="{0EBB1C2E-09F4-49CA-AFE9-D669CC5B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381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43C7C"/>
            </a:solidFill>
            <a:prstDash val="solid"/>
          </a:ln>
        </p:spPr>
      </p:sp>
      <p:sp>
        <p:nvSpPr>
          <p:cNvPr id="68" name="tra-layer-16-text">
            <a:extLst xmlns:a="http://schemas.openxmlformats.org/drawingml/2006/main">
              <a:ext uri="{FF2B5EF4-FFF2-40B4-BE49-F238E27FC236}">
                <a16:creationId xmlns:a16="http://schemas.microsoft.com/office/drawing/2014/main" id="{80D2E52A-E3B9-49A1-9123-5DB27AB9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054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rPr>
              <a:t>L16</a:t>
            </a:r>
          </a:p>
        </p:txBody>
      </p:sp>
      <p:sp>
        <p:nvSpPr>
          <p:cNvPr id="69" name="tra-layer-20">
            <a:extLst xmlns:a="http://schemas.openxmlformats.org/drawingml/2006/main">
              <a:ext uri="{FF2B5EF4-FFF2-40B4-BE49-F238E27FC236}">
                <a16:creationId xmlns:a16="http://schemas.microsoft.com/office/drawing/2014/main" id="{F13F7048-2D1B-4849-8ADA-40C8FF84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95875"/>
            <a:ext cx="381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43C7C"/>
            </a:solidFill>
            <a:prstDash val="solid"/>
          </a:ln>
        </p:spPr>
      </p:sp>
      <p:sp>
        <p:nvSpPr>
          <p:cNvPr id="70" name="tra-layer-20-text">
            <a:extLst xmlns:a="http://schemas.openxmlformats.org/drawingml/2006/main">
              <a:ext uri="{FF2B5EF4-FFF2-40B4-BE49-F238E27FC236}">
                <a16:creationId xmlns:a16="http://schemas.microsoft.com/office/drawing/2014/main" id="{5BA36B06-9782-426E-9AA1-913EB93A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rPr>
              <a:t>L20</a:t>
            </a:r>
          </a:p>
        </p:txBody>
      </p:sp>
      <p:sp>
        <p:nvSpPr>
          <p:cNvPr id="71" name="tra-layer-24">
            <a:extLst xmlns:a="http://schemas.openxmlformats.org/drawingml/2006/main">
              <a:ext uri="{FF2B5EF4-FFF2-40B4-BE49-F238E27FC236}">
                <a16:creationId xmlns:a16="http://schemas.microsoft.com/office/drawing/2014/main" id="{3F54F0F1-31F3-4526-AC58-ADE5E268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381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43C7C"/>
            </a:solidFill>
            <a:prstDash val="solid"/>
          </a:ln>
        </p:spPr>
      </p:sp>
      <p:sp>
        <p:nvSpPr>
          <p:cNvPr id="72" name="tra-layer-24-text">
            <a:extLst xmlns:a="http://schemas.openxmlformats.org/drawingml/2006/main">
              <a:ext uri="{FF2B5EF4-FFF2-40B4-BE49-F238E27FC236}">
                <a16:creationId xmlns:a16="http://schemas.microsoft.com/office/drawing/2014/main" id="{837A6523-E5AC-42A9-9AD0-CBB8C0F8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rPr>
              <a:t>L24</a:t>
            </a:r>
          </a:p>
        </p:txBody>
      </p:sp>
      <p:sp>
        <p:nvSpPr>
          <p:cNvPr id="73" name="tra-layer-28">
            <a:extLst xmlns:a="http://schemas.openxmlformats.org/drawingml/2006/main">
              <a:ext uri="{FF2B5EF4-FFF2-40B4-BE49-F238E27FC236}">
                <a16:creationId xmlns:a16="http://schemas.microsoft.com/office/drawing/2014/main" id="{8CFDCE87-C2E8-41CC-9D6A-536D45C6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95875"/>
            <a:ext cx="381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43C7C"/>
            </a:solidFill>
            <a:prstDash val="solid"/>
          </a:ln>
        </p:spPr>
      </p:sp>
      <p:sp>
        <p:nvSpPr>
          <p:cNvPr id="74" name="tra-layer-28-text">
            <a:extLst xmlns:a="http://schemas.openxmlformats.org/drawingml/2006/main">
              <a:ext uri="{FF2B5EF4-FFF2-40B4-BE49-F238E27FC236}">
                <a16:creationId xmlns:a16="http://schemas.microsoft.com/office/drawing/2014/main" id="{8D4EB07B-A6C2-4529-BED2-C573DC65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054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A43C7C"/>
                </a:solidFill>
                <a:latin typeface="Times New Roman"/>
                <a:ea typeface="Times New Roman"/>
                <a:cs typeface="Times New Roman"/>
              </a:rPr>
              <a:t>L28</a:t>
            </a:r>
          </a:p>
        </p:txBody>
      </p:sp>
      <p:sp>
        <p:nvSpPr>
          <p:cNvPr id="75" name="tra-zero-init">
            <a:extLst xmlns:a="http://schemas.openxmlformats.org/drawingml/2006/main">
              <a:ext uri="{FF2B5EF4-FFF2-40B4-BE49-F238E27FC236}">
                <a16:creationId xmlns:a16="http://schemas.microsoft.com/office/drawing/2014/main" id="{060A067B-FBC4-40D0-B111-7D952319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43575"/>
            <a:ext cx="1638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A"/>
            </a:solidFill>
            <a:prstDash val="solid"/>
          </a:ln>
        </p:spPr>
      </p:sp>
      <p:sp>
        <p:nvSpPr>
          <p:cNvPr id="76" name="tra-zero-init-text">
            <a:extLst xmlns:a="http://schemas.openxmlformats.org/drawingml/2006/main">
              <a:ext uri="{FF2B5EF4-FFF2-40B4-BE49-F238E27FC236}">
                <a16:creationId xmlns:a16="http://schemas.microsoft.com/office/drawing/2014/main" id="{F3B78778-5D11-4A1B-9B85-9969D736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9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zero-init · identity start</a:t>
            </a:r>
          </a:p>
        </p:txBody>
      </p:sp>
      <p:sp>
        <p:nvSpPr>
          <p:cNvPr id="77" name="grpo-card">
            <a:extLst xmlns:a="http://schemas.openxmlformats.org/drawingml/2006/main">
              <a:ext uri="{FF2B5EF4-FFF2-40B4-BE49-F238E27FC236}">
                <a16:creationId xmlns:a16="http://schemas.microsoft.com/office/drawing/2014/main" id="{0C942B29-DA74-4534-85B6-C6E98456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2019300" cy="47625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FF9F5"/>
          </a:solidFill>
          <a:ln xmlns:a="http://schemas.openxmlformats.org/drawingml/2006/main" w="28575">
            <a:solidFill>
              <a:srgbClr val="168066"/>
            </a:solidFill>
            <a:prstDash val="solid"/>
          </a:ln>
        </p:spPr>
      </p:sp>
      <p:sp>
        <p:nvSpPr>
          <p:cNvPr id="78" name="grpo-stage-circle">
            <a:extLst xmlns:a="http://schemas.openxmlformats.org/drawingml/2006/main">
              <a:ext uri="{FF2B5EF4-FFF2-40B4-BE49-F238E27FC236}">
                <a16:creationId xmlns:a16="http://schemas.microsoft.com/office/drawing/2014/main" id="{F180BA99-66F9-40D5-9E65-3754124E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4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6"/>
          </a:solidFill>
          <a:ln xmlns:a="http://schemas.openxmlformats.org/drawingml/2006/main" w="9525">
            <a:solidFill>
              <a:srgbClr val="168066"/>
            </a:solidFill>
            <a:prstDash val="solid"/>
          </a:ln>
        </p:spPr>
      </p:sp>
      <p:sp>
        <p:nvSpPr>
          <p:cNvPr id="79" name="grpo-stage-text">
            <a:extLst xmlns:a="http://schemas.openxmlformats.org/drawingml/2006/main">
              <a:ext uri="{FF2B5EF4-FFF2-40B4-BE49-F238E27FC236}">
                <a16:creationId xmlns:a16="http://schemas.microsoft.com/office/drawing/2014/main" id="{0C5AA906-B9CA-4AC9-98B0-1BF473D5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383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ddc0798434804">
            <a:extLst>
              <a:ext uri="{96DAC541-7B7A-43D3-8B79-37D633B846F1}">
                <asvg:svgBlip xmlns:asvg="http://schemas.microsoft.com/office/drawing/2016/SVG/main" r:embed="Re1844f271e2343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58250" y="1971675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81" name="grpo-title">
            <a:extLst xmlns:a="http://schemas.openxmlformats.org/drawingml/2006/main">
              <a:ext uri="{FF2B5EF4-FFF2-40B4-BE49-F238E27FC236}">
                <a16:creationId xmlns:a16="http://schemas.microsoft.com/office/drawing/2014/main" id="{43553E36-AFE2-4F3E-8BB5-BC65E820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rPr>
              <a:t>Task-Stratified</a:t>
            </a:r>
          </a:p>
          <a:p xmlns:a="http://schemas.openxmlformats.org/drawingml/2006/main">
            <a:pPr algn="ctr">
              <a:defRPr sz="18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rPr>
              <a:t>GRPO</a:t>
            </a:r>
          </a:p>
        </p:txBody>
      </p:sp>
      <p:sp>
        <p:nvSpPr>
          <p:cNvPr id="82" name="grpo-group-label">
            <a:extLst xmlns:a="http://schemas.openxmlformats.org/drawingml/2006/main">
              <a:ext uri="{FF2B5EF4-FFF2-40B4-BE49-F238E27FC236}">
                <a16:creationId xmlns:a16="http://schemas.microsoft.com/office/drawing/2014/main" id="{F932423D-8B34-422B-A56E-20C6337F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same-task groups · G = 8</a:t>
            </a:r>
          </a:p>
        </p:txBody>
      </p:sp>
      <p:sp>
        <p:nvSpPr>
          <p:cNvPr id="83" name="grpo-doc-bucket">
            <a:extLst xmlns:a="http://schemas.openxmlformats.org/drawingml/2006/main">
              <a:ext uri="{FF2B5EF4-FFF2-40B4-BE49-F238E27FC236}">
                <a16:creationId xmlns:a16="http://schemas.microsoft.com/office/drawing/2014/main" id="{7E5162CE-7436-4C81-B3EC-25C8F057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86200"/>
            <a:ext cx="781050" cy="10096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3A5"/>
            </a:solidFill>
            <a:prstDash val="solid"/>
          </a:ln>
        </p:spPr>
      </p:sp>
      <p:sp>
        <p:nvSpPr>
          <p:cNvPr id="84" name="grpo-doc-title">
            <a:extLst xmlns:a="http://schemas.openxmlformats.org/drawingml/2006/main">
              <a:ext uri="{FF2B5EF4-FFF2-40B4-BE49-F238E27FC236}">
                <a16:creationId xmlns:a16="http://schemas.microsoft.com/office/drawing/2014/main" id="{2F8DB4B7-C53A-4C03-B3CB-81F42193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338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rPr>
              <a:t>DocVQA</a:t>
            </a:r>
          </a:p>
        </p:txBody>
      </p:sp>
      <p:sp>
        <p:nvSpPr>
          <p:cNvPr id="85" name="grpo-doc-dots">
            <a:extLst xmlns:a="http://schemas.openxmlformats.org/drawingml/2006/main">
              <a:ext uri="{FF2B5EF4-FFF2-40B4-BE49-F238E27FC236}">
                <a16:creationId xmlns:a16="http://schemas.microsoft.com/office/drawing/2014/main" id="{211960FE-C08B-49A2-8EA5-459CA4A4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95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rPr>
              <a:t>●  ●</a:t>
            </a:r>
          </a:p>
          <a:p xmlns:a="http://schemas.openxmlformats.org/drawingml/2006/main">
            <a:pPr algn="ctr">
              <a:defRPr sz="1200" b="0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rPr>
              <a:t>●  ●</a:t>
            </a:r>
          </a:p>
        </p:txBody>
      </p:sp>
      <p:sp>
        <p:nvSpPr>
          <p:cNvPr id="86" name="grpo-doc-reward">
            <a:extLst xmlns:a="http://schemas.openxmlformats.org/drawingml/2006/main">
              <a:ext uri="{FF2B5EF4-FFF2-40B4-BE49-F238E27FC236}">
                <a16:creationId xmlns:a16="http://schemas.microsoft.com/office/drawing/2014/main" id="{C9844D91-62F3-440C-BCE5-DA391CAD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rPr>
              <a:t>ANLS</a:t>
            </a:r>
          </a:p>
        </p:txBody>
      </p:sp>
      <p:sp>
        <p:nvSpPr>
          <p:cNvPr id="87" name="grpo-chart-bucket">
            <a:extLst xmlns:a="http://schemas.openxmlformats.org/drawingml/2006/main">
              <a:ext uri="{FF2B5EF4-FFF2-40B4-BE49-F238E27FC236}">
                <a16:creationId xmlns:a16="http://schemas.microsoft.com/office/drawing/2014/main" id="{10B7E1E0-505E-4E9C-B69C-2FC9B019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886200"/>
            <a:ext cx="781050" cy="10096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C93"/>
            </a:solidFill>
            <a:prstDash val="solid"/>
          </a:ln>
        </p:spPr>
      </p:sp>
      <p:sp>
        <p:nvSpPr>
          <p:cNvPr id="88" name="grpo-chart-title">
            <a:extLst xmlns:a="http://schemas.openxmlformats.org/drawingml/2006/main">
              <a:ext uri="{FF2B5EF4-FFF2-40B4-BE49-F238E27FC236}">
                <a16:creationId xmlns:a16="http://schemas.microsoft.com/office/drawing/2014/main" id="{0629CF5B-A2B9-4CB1-BD7A-8B99EF2C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9338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ChartQA</a:t>
            </a:r>
          </a:p>
        </p:txBody>
      </p:sp>
      <p:sp>
        <p:nvSpPr>
          <p:cNvPr id="89" name="grpo-chart-dots">
            <a:extLst xmlns:a="http://schemas.openxmlformats.org/drawingml/2006/main">
              <a:ext uri="{FF2B5EF4-FFF2-40B4-BE49-F238E27FC236}">
                <a16:creationId xmlns:a16="http://schemas.microsoft.com/office/drawing/2014/main" id="{0B58C8E0-CB36-4A4E-BC04-9A0708EE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19575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●  ●</a:t>
            </a:r>
          </a:p>
          <a:p xmlns:a="http://schemas.openxmlformats.org/drawingml/2006/main">
            <a:pPr algn="ctr">
              <a:defRPr sz="1200" b="0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●  ●</a:t>
            </a:r>
          </a:p>
        </p:txBody>
      </p:sp>
      <p:sp>
        <p:nvSpPr>
          <p:cNvPr id="90" name="grpo-chart-reward">
            <a:extLst xmlns:a="http://schemas.openxmlformats.org/drawingml/2006/main">
              <a:ext uri="{FF2B5EF4-FFF2-40B4-BE49-F238E27FC236}">
                <a16:creationId xmlns:a16="http://schemas.microsoft.com/office/drawing/2014/main" id="{DD1DFA67-0D89-44EC-A7B1-7DC84204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9105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exact / numeric</a:t>
            </a:r>
          </a:p>
        </p:txBody>
      </p:sp>
      <p:sp>
        <p:nvSpPr>
          <p:cNvPr id="91" name="grpo-normalize">
            <a:extLst xmlns:a="http://schemas.openxmlformats.org/drawingml/2006/main">
              <a:ext uri="{FF2B5EF4-FFF2-40B4-BE49-F238E27FC236}">
                <a16:creationId xmlns:a16="http://schemas.microsoft.com/office/drawing/2014/main" id="{C261C9D6-8EDE-4B47-A477-157EEC33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19700"/>
            <a:ext cx="15430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066"/>
            </a:solidFill>
            <a:prstDash val="solid"/>
          </a:ln>
        </p:spPr>
      </p:sp>
      <p:sp>
        <p:nvSpPr>
          <p:cNvPr id="92" name="grpo-normalize-text">
            <a:extLst xmlns:a="http://schemas.openxmlformats.org/drawingml/2006/main">
              <a:ext uri="{FF2B5EF4-FFF2-40B4-BE49-F238E27FC236}">
                <a16:creationId xmlns:a16="http://schemas.microsoft.com/office/drawing/2014/main" id="{4D63427E-57F0-4415-8870-B4794EC1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67325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rPr>
              <a:t>normalize advantages</a:t>
            </a:r>
          </a:p>
          <a:p xmlns:a="http://schemas.openxmlformats.org/drawingml/2006/main">
            <a:pPr algn="ctr">
              <a:defRPr sz="12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rPr>
              <a:t>within each task</a:t>
            </a:r>
          </a:p>
        </p:txBody>
      </p:sp>
      <p:sp>
        <p:nvSpPr>
          <p:cNvPr id="93" name="grpo-note">
            <a:extLst xmlns:a="http://schemas.openxmlformats.org/drawingml/2006/main">
              <a:ext uri="{FF2B5EF4-FFF2-40B4-BE49-F238E27FC236}">
                <a16:creationId xmlns:a16="http://schemas.microsoft.com/office/drawing/2014/main" id="{D1AC6EFC-C193-4B7C-BB47-5598BAE0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94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no cross-metric comparison</a:t>
            </a:r>
          </a:p>
        </p:txBody>
      </p:sp>
      <p:cxnSp>
        <p:nvCxnSpPr>
          <p:cNvPr id="240" name=""/>
          <p:cNvCxnSpPr>
            <a:stCxn xmlns:a="http://schemas.openxmlformats.org/drawingml/2006/main" id="37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5410200" y="4095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E55B6"/>
            </a:solidFill>
            <a:prstDash val="solid"/>
            <a:tailEnd type="arrow" w="med" len="med"/>
          </a:ln>
        </p:spPr>
      </p:cxnSp>
      <p:cxnSp>
        <p:nvCxnSpPr>
          <p:cNvPr id="241" name=""/>
          <p:cNvCxnSpPr>
            <a:stCxn xmlns:a="http://schemas.openxmlformats.org/drawingml/2006/main" id="51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7981950" y="40957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8066"/>
            </a:solidFill>
            <a:prstDash val="solid"/>
            <a:tailEnd type="arrow" w="med" len="med"/>
          </a:ln>
        </p:spPr>
      </p:cxnSp>
      <p:sp>
        <p:nvSpPr>
          <p:cNvPr id="96" name="oracle-panel">
            <a:extLst xmlns:a="http://schemas.openxmlformats.org/drawingml/2006/main">
              <a:ext uri="{FF2B5EF4-FFF2-40B4-BE49-F238E27FC236}">
                <a16:creationId xmlns:a16="http://schemas.microsoft.com/office/drawing/2014/main" id="{04C0A9F4-C135-42DB-93DF-4E2F3212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14500"/>
            <a:ext cx="4191000" cy="47625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BFB"/>
          </a:solidFill>
          <a:ln xmlns:a="http://schemas.openxmlformats.org/drawingml/2006/main" w="28575">
            <a:solidFill>
              <a:srgbClr val="168C93"/>
            </a:solidFill>
            <a:prstDash val="solid"/>
          </a:ln>
        </p:spPr>
      </p:sp>
      <p:sp>
        <p:nvSpPr>
          <p:cNvPr id="97" name="oracle-stage-circle">
            <a:extLst xmlns:a="http://schemas.openxmlformats.org/drawingml/2006/main">
              <a:ext uri="{FF2B5EF4-FFF2-40B4-BE49-F238E27FC236}">
                <a16:creationId xmlns:a16="http://schemas.microsoft.com/office/drawing/2014/main" id="{B57FE85A-F19B-4AA6-BB21-23DAA7DA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84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93"/>
          </a:solidFill>
          <a:ln xmlns:a="http://schemas.openxmlformats.org/drawingml/2006/main" w="9525">
            <a:solidFill>
              <a:srgbClr val="168C93"/>
            </a:solidFill>
            <a:prstDash val="solid"/>
          </a:ln>
        </p:spPr>
      </p:sp>
      <p:sp>
        <p:nvSpPr>
          <p:cNvPr id="98" name="oracle-stage-text">
            <a:extLst xmlns:a="http://schemas.openxmlformats.org/drawingml/2006/main">
              <a:ext uri="{FF2B5EF4-FFF2-40B4-BE49-F238E27FC236}">
                <a16:creationId xmlns:a16="http://schemas.microsoft.com/office/drawing/2014/main" id="{DA86BC5A-AE1D-4D7A-A8C1-B0D6E859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8383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09ea00b3f42b5">
            <a:extLst>
              <a:ext uri="{96DAC541-7B7A-43D3-8B79-37D633B846F1}">
                <asvg:svgBlip xmlns:asvg="http://schemas.microsoft.com/office/drawing/2016/SVG/main" r:embed="Rdabd29a0ddcc4e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91850" y="21812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00" name="oracle-title">
            <a:extLst xmlns:a="http://schemas.openxmlformats.org/drawingml/2006/main">
              <a:ext uri="{FF2B5EF4-FFF2-40B4-BE49-F238E27FC236}">
                <a16:creationId xmlns:a16="http://schemas.microsoft.com/office/drawing/2014/main" id="{B7C520D7-642B-4CBD-B773-7F5EFBA9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04787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Validation-Time Oracle Best-of-N</a:t>
            </a:r>
          </a:p>
        </p:txBody>
      </p:sp>
      <p:sp>
        <p:nvSpPr>
          <p:cNvPr id="101" name="oracle-subtitle">
            <a:extLst xmlns:a="http://schemas.openxmlformats.org/drawingml/2006/main">
              <a:ext uri="{FF2B5EF4-FFF2-40B4-BE49-F238E27FC236}">
                <a16:creationId xmlns:a16="http://schemas.microsoft.com/office/drawing/2014/main" id="{15B7370F-6275-4498-9048-89C70E51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5146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sample candidate answers</a:t>
            </a:r>
          </a:p>
        </p:txBody>
      </p:sp>
      <p:sp>
        <p:nvSpPr>
          <p:cNvPr id="102" name="oracle-n-1">
            <a:extLst xmlns:a="http://schemas.openxmlformats.org/drawingml/2006/main">
              <a:ext uri="{FF2B5EF4-FFF2-40B4-BE49-F238E27FC236}">
                <a16:creationId xmlns:a16="http://schemas.microsoft.com/office/drawing/2014/main" id="{6D51D3E7-E4F4-40A1-A3C6-72422FAC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048000"/>
            <a:ext cx="628650" cy="6477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C93"/>
            </a:solidFill>
            <a:prstDash val="solid"/>
          </a:ln>
        </p:spPr>
      </p:sp>
      <p:sp>
        <p:nvSpPr>
          <p:cNvPr id="103" name="oracle-n-1-label">
            <a:extLst xmlns:a="http://schemas.openxmlformats.org/drawingml/2006/main">
              <a:ext uri="{FF2B5EF4-FFF2-40B4-BE49-F238E27FC236}">
                <a16:creationId xmlns:a16="http://schemas.microsoft.com/office/drawing/2014/main" id="{A853765F-EE1A-4BBF-A50B-9C0996C8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2420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N = 1</a:t>
            </a:r>
          </a:p>
        </p:txBody>
      </p:sp>
      <p:sp>
        <p:nvSpPr>
          <p:cNvPr id="104" name="oracle-n-1-lines">
            <a:extLst xmlns:a="http://schemas.openxmlformats.org/drawingml/2006/main">
              <a:ext uri="{FF2B5EF4-FFF2-40B4-BE49-F238E27FC236}">
                <a16:creationId xmlns:a16="http://schemas.microsoft.com/office/drawing/2014/main" id="{7F6A972A-8CA7-4924-9B94-AD45B355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343275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≡</a:t>
            </a:r>
          </a:p>
          <a:p xmlns:a="http://schemas.openxmlformats.org/drawingml/2006/main">
            <a:pPr algn="ctr">
              <a:def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sp>
        <p:nvSpPr>
          <p:cNvPr id="105" name="oracle-n-2">
            <a:extLst xmlns:a="http://schemas.openxmlformats.org/drawingml/2006/main">
              <a:ext uri="{FF2B5EF4-FFF2-40B4-BE49-F238E27FC236}">
                <a16:creationId xmlns:a16="http://schemas.microsoft.com/office/drawing/2014/main" id="{1E931F73-4767-4511-88C0-2BAD7098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048000"/>
            <a:ext cx="628650" cy="6477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C93"/>
            </a:solidFill>
            <a:prstDash val="solid"/>
          </a:ln>
        </p:spPr>
      </p:sp>
      <p:sp>
        <p:nvSpPr>
          <p:cNvPr id="106" name="oracle-n-2-label">
            <a:extLst xmlns:a="http://schemas.openxmlformats.org/drawingml/2006/main">
              <a:ext uri="{FF2B5EF4-FFF2-40B4-BE49-F238E27FC236}">
                <a16:creationId xmlns:a16="http://schemas.microsoft.com/office/drawing/2014/main" id="{889BCC85-D033-447D-8A6D-AD7C1C8E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12420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N = 2</a:t>
            </a:r>
          </a:p>
        </p:txBody>
      </p:sp>
      <p:sp>
        <p:nvSpPr>
          <p:cNvPr id="107" name="oracle-n-2-lines">
            <a:extLst xmlns:a="http://schemas.openxmlformats.org/drawingml/2006/main">
              <a:ext uri="{FF2B5EF4-FFF2-40B4-BE49-F238E27FC236}">
                <a16:creationId xmlns:a16="http://schemas.microsoft.com/office/drawing/2014/main" id="{95B98FF0-D5A3-4631-8C51-820FCBED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343275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≡</a:t>
            </a:r>
          </a:p>
          <a:p xmlns:a="http://schemas.openxmlformats.org/drawingml/2006/main">
            <a:pPr algn="ctr">
              <a:def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sp>
        <p:nvSpPr>
          <p:cNvPr id="108" name="oracle-n-4">
            <a:extLst xmlns:a="http://schemas.openxmlformats.org/drawingml/2006/main">
              <a:ext uri="{FF2B5EF4-FFF2-40B4-BE49-F238E27FC236}">
                <a16:creationId xmlns:a16="http://schemas.microsoft.com/office/drawing/2014/main" id="{4D371A19-DDCE-44B9-966A-44433797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048000"/>
            <a:ext cx="628650" cy="6477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C93"/>
            </a:solidFill>
            <a:prstDash val="solid"/>
          </a:ln>
        </p:spPr>
      </p:sp>
      <p:sp>
        <p:nvSpPr>
          <p:cNvPr id="109" name="oracle-n-4-label">
            <a:extLst xmlns:a="http://schemas.openxmlformats.org/drawingml/2006/main">
              <a:ext uri="{FF2B5EF4-FFF2-40B4-BE49-F238E27FC236}">
                <a16:creationId xmlns:a16="http://schemas.microsoft.com/office/drawing/2014/main" id="{0C0BF20B-9A12-4FF8-A21F-2A491171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12420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N = 4</a:t>
            </a:r>
          </a:p>
        </p:txBody>
      </p:sp>
      <p:sp>
        <p:nvSpPr>
          <p:cNvPr id="110" name="oracle-n-4-lines">
            <a:extLst xmlns:a="http://schemas.openxmlformats.org/drawingml/2006/main">
              <a:ext uri="{FF2B5EF4-FFF2-40B4-BE49-F238E27FC236}">
                <a16:creationId xmlns:a16="http://schemas.microsoft.com/office/drawing/2014/main" id="{3A461E41-EEED-4CFC-9170-561FC9E7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343275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≡</a:t>
            </a:r>
          </a:p>
          <a:p xmlns:a="http://schemas.openxmlformats.org/drawingml/2006/main">
            <a:pPr algn="ctr">
              <a:def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sp>
        <p:nvSpPr>
          <p:cNvPr id="111" name="oracle-n-8">
            <a:extLst xmlns:a="http://schemas.openxmlformats.org/drawingml/2006/main">
              <a:ext uri="{FF2B5EF4-FFF2-40B4-BE49-F238E27FC236}">
                <a16:creationId xmlns:a16="http://schemas.microsoft.com/office/drawing/2014/main" id="{EACE7994-8F42-4535-B7D3-29861BF0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3048000"/>
            <a:ext cx="628650" cy="6477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C93"/>
            </a:solidFill>
            <a:prstDash val="solid"/>
          </a:ln>
        </p:spPr>
      </p:sp>
      <p:sp>
        <p:nvSpPr>
          <p:cNvPr id="112" name="oracle-n-8-label">
            <a:extLst xmlns:a="http://schemas.openxmlformats.org/drawingml/2006/main">
              <a:ext uri="{FF2B5EF4-FFF2-40B4-BE49-F238E27FC236}">
                <a16:creationId xmlns:a16="http://schemas.microsoft.com/office/drawing/2014/main" id="{EFCC20F6-696B-4597-8DE4-13D9A072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12420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68C93"/>
                </a:solidFill>
                <a:latin typeface="Times New Roman"/>
                <a:ea typeface="Times New Roman"/>
                <a:cs typeface="Times New Roman"/>
              </a:rPr>
              <a:t>N = 8</a:t>
            </a:r>
          </a:p>
        </p:txBody>
      </p:sp>
      <p:sp>
        <p:nvSpPr>
          <p:cNvPr id="113" name="oracle-n-8-lines">
            <a:extLst xmlns:a="http://schemas.openxmlformats.org/drawingml/2006/main">
              <a:ext uri="{FF2B5EF4-FFF2-40B4-BE49-F238E27FC236}">
                <a16:creationId xmlns:a16="http://schemas.microsoft.com/office/drawing/2014/main" id="{1FB9F32B-572C-49C9-BFE7-3C2B4703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343275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≡</a:t>
            </a:r>
          </a:p>
          <a:p xmlns:a="http://schemas.openxmlformats.org/drawingml/2006/main">
            <a:pPr algn="ctr">
              <a:def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sp>
        <p:nvSpPr>
          <p:cNvPr id="114" name="oracle-scorer">
            <a:extLst xmlns:a="http://schemas.openxmlformats.org/drawingml/2006/main">
              <a:ext uri="{FF2B5EF4-FFF2-40B4-BE49-F238E27FC236}">
                <a16:creationId xmlns:a16="http://schemas.microsoft.com/office/drawing/2014/main" id="{D8D003FE-8E26-4E31-BF42-6E6B17AA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0005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28575">
            <a:solidFill>
              <a:srgbClr val="C67B14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0fb039afc463e">
            <a:extLst>
              <a:ext uri="{96DAC541-7B7A-43D3-8B79-37D633B846F1}">
                <asvg:svgBlip xmlns:asvg="http://schemas.microsoft.com/office/drawing/2016/SVG/main" r:embed="Rf7545b4b7bc541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582400" y="408622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116" name="oracle-scorer-title">
            <a:extLst xmlns:a="http://schemas.openxmlformats.org/drawingml/2006/main">
              <a:ext uri="{FF2B5EF4-FFF2-40B4-BE49-F238E27FC236}">
                <a16:creationId xmlns:a16="http://schemas.microsoft.com/office/drawing/2014/main" id="{646FF382-87FA-43C5-92C3-B3C1CF03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38600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rPr>
              <a:t>reference-based</a:t>
            </a:r>
          </a:p>
          <a:p xmlns:a="http://schemas.openxmlformats.org/drawingml/2006/main">
            <a:pPr algn="ctr">
              <a:defRPr sz="1500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rPr>
              <a:t>task reward</a:t>
            </a:r>
          </a:p>
        </p:txBody>
      </p:sp>
      <p:sp>
        <p:nvSpPr>
          <p:cNvPr id="117" name="oracle-gold-reference">
            <a:extLst xmlns:a="http://schemas.openxmlformats.org/drawingml/2006/main">
              <a:ext uri="{FF2B5EF4-FFF2-40B4-BE49-F238E27FC236}">
                <a16:creationId xmlns:a16="http://schemas.microsoft.com/office/drawing/2014/main" id="{58EC1396-790F-4D58-9B4E-08530E7A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848100"/>
            <a:ext cx="895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7B14"/>
            </a:solidFill>
            <a:prstDash val="solid"/>
          </a:ln>
        </p:spPr>
      </p:sp>
      <p:sp>
        <p:nvSpPr>
          <p:cNvPr id="118" name="oracle-gold-title">
            <a:extLst xmlns:a="http://schemas.openxmlformats.org/drawingml/2006/main">
              <a:ext uri="{FF2B5EF4-FFF2-40B4-BE49-F238E27FC236}">
                <a16:creationId xmlns:a16="http://schemas.microsoft.com/office/drawing/2014/main" id="{56DEE272-7C5E-4F30-AE26-66992DD4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90525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rPr>
              <a:t>GOLD</a:t>
            </a:r>
          </a:p>
        </p:txBody>
      </p:sp>
      <p:sp>
        <p:nvSpPr>
          <p:cNvPr id="119" name="oracle-gold-detail">
            <a:extLst xmlns:a="http://schemas.openxmlformats.org/drawingml/2006/main">
              <a:ext uri="{FF2B5EF4-FFF2-40B4-BE49-F238E27FC236}">
                <a16:creationId xmlns:a16="http://schemas.microsoft.com/office/drawing/2014/main" id="{5BACC8C1-3248-4CD2-A982-B7F8D8A5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1433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reference</a:t>
            </a:r>
          </a:p>
        </p:txBody>
      </p:sp>
      <p:cxnSp>
        <p:nvCxnSpPr>
          <p:cNvPr id="266" name=""/>
          <p:cNvCxnSpPr>
            <a:stCxn xmlns:a="http://schemas.openxmlformats.org/drawingml/2006/main" id="102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11172825" y="3695700"/>
            <a:ext cx="135255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8C93"/>
            </a:solidFill>
            <a:prstDash val="solid"/>
            <a:tailEnd type="arrow" w="med" len="med"/>
          </a:ln>
        </p:spPr>
      </p:cxnSp>
      <p:cxnSp>
        <p:nvCxnSpPr>
          <p:cNvPr id="267" name=""/>
          <p:cNvCxnSpPr>
            <a:stCxn xmlns:a="http://schemas.openxmlformats.org/drawingml/2006/main" id="105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11953875" y="3695700"/>
            <a:ext cx="5715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8C93"/>
            </a:solidFill>
            <a:prstDash val="solid"/>
            <a:tailEnd type="arrow" w="med" len="med"/>
          </a:ln>
        </p:spPr>
      </p:cxnSp>
      <p:cxnSp>
        <p:nvCxnSpPr>
          <p:cNvPr id="268" name=""/>
          <p:cNvCxnSpPr>
            <a:stCxn xmlns:a="http://schemas.openxmlformats.org/drawingml/2006/main" id="108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 flipH="1">
            <a:off x="12525375" y="3695700"/>
            <a:ext cx="20955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8C93"/>
            </a:solidFill>
            <a:prstDash val="solid"/>
            <a:tailEnd type="arrow" w="med" len="med"/>
          </a:ln>
        </p:spPr>
      </p:cxnSp>
      <p:cxnSp>
        <p:nvCxnSpPr>
          <p:cNvPr id="269" name=""/>
          <p:cNvCxnSpPr>
            <a:stCxn xmlns:a="http://schemas.openxmlformats.org/drawingml/2006/main" id="111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 flipH="1">
            <a:off x="12525375" y="3695700"/>
            <a:ext cx="99060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8C93"/>
            </a:solidFill>
            <a:prstDash val="solid"/>
            <a:tailEnd type="arrow" w="med" len="med"/>
          </a:ln>
        </p:spPr>
      </p:cxnSp>
      <p:cxnSp>
        <p:nvCxnSpPr>
          <p:cNvPr id="270" name=""/>
          <p:cNvCxnSpPr>
            <a:stCxn xmlns:a="http://schemas.openxmlformats.org/drawingml/2006/main" id="117" idx="1"/>
            <a:endCxn xmlns:a="http://schemas.openxmlformats.org/drawingml/2006/main" id="114" idx="3"/>
          </p:cNvCxnSpPr>
          <p:nvPr/>
        </p:nvCxnSpPr>
        <p:spPr>
          <a:xfrm xmlns:a="http://schemas.openxmlformats.org/drawingml/2006/main" flipH="1">
            <a:off x="13573125" y="4191000"/>
            <a:ext cx="12382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67B14"/>
            </a:solidFill>
            <a:prstDash val="dash"/>
            <a:tailEnd type="arrow" w="med" len="med"/>
          </a:ln>
        </p:spPr>
      </p:cxnSp>
      <p:sp>
        <p:nvSpPr>
          <p:cNvPr id="125" name="oracle-selected">
            <a:extLst xmlns:a="http://schemas.openxmlformats.org/drawingml/2006/main">
              <a:ext uri="{FF2B5EF4-FFF2-40B4-BE49-F238E27FC236}">
                <a16:creationId xmlns:a16="http://schemas.microsoft.com/office/drawing/2014/main" id="{1B33FB32-384A-4388-92EF-524BC533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933950"/>
            <a:ext cx="1600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9F5"/>
          </a:solidFill>
          <a:ln xmlns:a="http://schemas.openxmlformats.org/drawingml/2006/main" w="28575">
            <a:solidFill>
              <a:srgbClr val="168066"/>
            </a:solidFill>
            <a:prstDash val="solid"/>
          </a:ln>
        </p:spPr>
      </p:sp>
      <p:sp>
        <p:nvSpPr>
          <p:cNvPr id="126" name="oracle-selected-text">
            <a:extLst xmlns:a="http://schemas.openxmlformats.org/drawingml/2006/main">
              <a:ext uri="{FF2B5EF4-FFF2-40B4-BE49-F238E27FC236}">
                <a16:creationId xmlns:a16="http://schemas.microsoft.com/office/drawing/2014/main" id="{AA05BC7D-606F-48BA-B4DB-1F8384D8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00625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rPr>
              <a:t>✓  selected candidate</a:t>
            </a:r>
          </a:p>
        </p:txBody>
      </p:sp>
      <p:cxnSp>
        <p:nvCxnSpPr>
          <p:cNvPr id="273" name=""/>
          <p:cNvCxnSpPr>
            <a:stCxn xmlns:a="http://schemas.openxmlformats.org/drawingml/2006/main" id="11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12525375" y="4667250"/>
            <a:ext cx="952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8066"/>
            </a:solidFill>
            <a:prstDash val="solid"/>
            <a:tailEnd type="arrow" w="med" len="med"/>
          </a:ln>
        </p:spPr>
      </p:cxnSp>
      <p:sp>
        <p:nvSpPr>
          <p:cNvPr id="128" name="oracle-warning">
            <a:extLst xmlns:a="http://schemas.openxmlformats.org/drawingml/2006/main">
              <a:ext uri="{FF2B5EF4-FFF2-40B4-BE49-F238E27FC236}">
                <a16:creationId xmlns:a16="http://schemas.microsoft.com/office/drawing/2014/main" id="{EDBF557F-5CB5-4BAB-B1B6-4EE4DCD9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753100"/>
            <a:ext cx="3467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19050">
            <a:solidFill>
              <a:srgbClr val="B24A35"/>
            </a:solidFill>
            <a:prstDash val="solid"/>
          </a:ln>
        </p:spPr>
      </p:sp>
      <p:sp>
        <p:nvSpPr>
          <p:cNvPr id="129" name="oracle-warning-text">
            <a:extLst xmlns:a="http://schemas.openxmlformats.org/drawingml/2006/main">
              <a:ext uri="{FF2B5EF4-FFF2-40B4-BE49-F238E27FC236}">
                <a16:creationId xmlns:a16="http://schemas.microsoft.com/office/drawing/2014/main" id="{7B942C0A-1B14-42AE-B787-1037B344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102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24A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24A35"/>
                </a:solidFill>
                <a:latin typeface="Times New Roman"/>
                <a:ea typeface="Times New Roman"/>
                <a:cs typeface="Times New Roman"/>
              </a:rPr>
              <a:t>ORACLE UPPER BOUND · NOT A DEPLOYABLE VERIFIER</a:t>
            </a:r>
          </a:p>
        </p:txBody>
      </p:sp>
      <p:cxnSp>
        <p:nvCxnSpPr>
          <p:cNvPr id="276" name=""/>
          <p:cNvCxnSpPr>
            <a:stCxn xmlns:a="http://schemas.openxmlformats.org/drawingml/2006/main" id="77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10210800" y="40957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8C93"/>
            </a:solidFill>
            <a:prstDash val="solid"/>
            <a:tailEnd type="arrow" w="med" len="med"/>
          </a:ln>
        </p:spPr>
      </p:cxnSp>
      <p:sp>
        <p:nvSpPr>
          <p:cNvPr id="131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700C749C-1107-4BE7-BA69-571816CA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24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F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73F72"/>
                </a:solidFill>
                <a:latin typeface="Times New Roman"/>
                <a:ea typeface="Times New Roman"/>
                <a:cs typeface="Times New Roman"/>
              </a:rPr>
              <a:t>OBSERVED RESULTS</a:t>
            </a:r>
          </a:p>
        </p:txBody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e606b7db04f12">
            <a:extLst>
              <a:ext uri="{96DAC541-7B7A-43D3-8B79-37D633B846F1}">
                <asvg:svgBlip xmlns:asvg="http://schemas.microsoft.com/office/drawing/2016/SVG/main" r:embed="Rbd918b5b06c444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706755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133" name="metric-indomain-box">
            <a:extLst xmlns:a="http://schemas.openxmlformats.org/drawingml/2006/main">
              <a:ext uri="{FF2B5EF4-FFF2-40B4-BE49-F238E27FC236}">
                <a16:creationId xmlns:a16="http://schemas.microsoft.com/office/drawing/2014/main" id="{3CEBE414-C2FD-4785-92E9-0620B58F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067550"/>
            <a:ext cx="4000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19050">
            <a:solidFill>
              <a:srgbClr val="2763A5"/>
            </a:solidFill>
            <a:prstDash val="solid"/>
          </a:ln>
        </p:spPr>
      </p:sp>
      <p:sp>
        <p:nvSpPr>
          <p:cNvPr id="134" name="metric-indomain-label">
            <a:extLst xmlns:a="http://schemas.openxmlformats.org/drawingml/2006/main">
              <a:ext uri="{FF2B5EF4-FFF2-40B4-BE49-F238E27FC236}">
                <a16:creationId xmlns:a16="http://schemas.microsoft.com/office/drawing/2014/main" id="{BB4DB92F-F6FE-4BC7-B06C-7F369E6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15327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763A5"/>
                </a:solidFill>
                <a:latin typeface="Times New Roman"/>
                <a:ea typeface="Times New Roman"/>
                <a:cs typeface="Times New Roman"/>
              </a:rPr>
              <a:t>IN-DOMAIN AVERAGE</a:t>
            </a:r>
          </a:p>
        </p:txBody>
      </p:sp>
      <p:sp>
        <p:nvSpPr>
          <p:cNvPr id="135" name="metric-indomain-value">
            <a:extLst xmlns:a="http://schemas.openxmlformats.org/drawingml/2006/main">
              <a:ext uri="{FF2B5EF4-FFF2-40B4-BE49-F238E27FC236}">
                <a16:creationId xmlns:a16="http://schemas.microsoft.com/office/drawing/2014/main" id="{FAC23EA7-A48E-4D8D-9189-DE817904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43775"/>
            <a:ext cx="3771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0.1019  →  0.8535</a:t>
            </a:r>
          </a:p>
        </p:txBody>
      </p:sp>
      <p:sp>
        <p:nvSpPr>
          <p:cNvPr id="136" name="metric-indomain-detail">
            <a:extLst xmlns:a="http://schemas.openxmlformats.org/drawingml/2006/main">
              <a:ext uri="{FF2B5EF4-FFF2-40B4-BE49-F238E27FC236}">
                <a16:creationId xmlns:a16="http://schemas.microsoft.com/office/drawing/2014/main" id="{964B5BB3-D0E6-4FD9-9782-35F62607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86675"/>
            <a:ext cx="3771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prompt baseline → final TS-GRPO checkpoint</a:t>
            </a:r>
          </a:p>
        </p:txBody>
      </p:sp>
      <p:sp>
        <p:nvSpPr>
          <p:cNvPr id="137" name="metric-final-box">
            <a:extLst xmlns:a="http://schemas.openxmlformats.org/drawingml/2006/main">
              <a:ext uri="{FF2B5EF4-FFF2-40B4-BE49-F238E27FC236}">
                <a16:creationId xmlns:a16="http://schemas.microsoft.com/office/drawing/2014/main" id="{00782384-A0C6-4490-A35B-F776D50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067550"/>
            <a:ext cx="4095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FF9F5"/>
          </a:solidFill>
          <a:ln xmlns:a="http://schemas.openxmlformats.org/drawingml/2006/main" w="19050">
            <a:solidFill>
              <a:srgbClr val="168066"/>
            </a:solidFill>
            <a:prstDash val="solid"/>
          </a:ln>
        </p:spPr>
      </p:sp>
      <p:sp>
        <p:nvSpPr>
          <p:cNvPr id="138" name="metric-final-label">
            <a:extLst xmlns:a="http://schemas.openxmlformats.org/drawingml/2006/main">
              <a:ext uri="{FF2B5EF4-FFF2-40B4-BE49-F238E27FC236}">
                <a16:creationId xmlns:a16="http://schemas.microsoft.com/office/drawing/2014/main" id="{498B5780-7EA5-428D-B5CF-4C0DE0F5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153275"/>
            <a:ext cx="3829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68066"/>
                </a:solidFill>
                <a:latin typeface="Times New Roman"/>
                <a:ea typeface="Times New Roman"/>
                <a:cs typeface="Times New Roman"/>
              </a:rPr>
              <a:t>FINAL CHECKPOINT</a:t>
            </a:r>
          </a:p>
        </p:txBody>
      </p:sp>
      <p:sp>
        <p:nvSpPr>
          <p:cNvPr id="139" name="metric-final-value">
            <a:extLst xmlns:a="http://schemas.openxmlformats.org/drawingml/2006/main">
              <a:ext uri="{FF2B5EF4-FFF2-40B4-BE49-F238E27FC236}">
                <a16:creationId xmlns:a16="http://schemas.microsoft.com/office/drawing/2014/main" id="{B3F857FC-7930-4559-9DD2-BBFE247B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343775"/>
            <a:ext cx="3867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0.9190  ·  0.7682</a:t>
            </a:r>
          </a:p>
        </p:txBody>
      </p:sp>
      <p:sp>
        <p:nvSpPr>
          <p:cNvPr id="140" name="metric-final-detail">
            <a:extLst xmlns:a="http://schemas.openxmlformats.org/drawingml/2006/main">
              <a:ext uri="{FF2B5EF4-FFF2-40B4-BE49-F238E27FC236}">
                <a16:creationId xmlns:a16="http://schemas.microsoft.com/office/drawing/2014/main" id="{C1C7F66F-23AD-4A1F-BCF5-D8527BAC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686675"/>
            <a:ext cx="3867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DocVQA ANLS · ChartQA exact/numeric</a:t>
            </a:r>
          </a:p>
        </p:txBody>
      </p:sp>
      <p:sp>
        <p:nvSpPr>
          <p:cNvPr id="141" name="metric-oracle-box">
            <a:extLst xmlns:a="http://schemas.openxmlformats.org/drawingml/2006/main">
              <a:ext uri="{FF2B5EF4-FFF2-40B4-BE49-F238E27FC236}">
                <a16:creationId xmlns:a16="http://schemas.microsoft.com/office/drawing/2014/main" id="{D20A2101-DAA1-4307-87D4-E04580DC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06755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C67B14"/>
            </a:solidFill>
            <a:prstDash val="solid"/>
          </a:ln>
        </p:spPr>
      </p:sp>
      <p:sp>
        <p:nvSpPr>
          <p:cNvPr id="142" name="metric-oracle-label">
            <a:extLst xmlns:a="http://schemas.openxmlformats.org/drawingml/2006/main">
              <a:ext uri="{FF2B5EF4-FFF2-40B4-BE49-F238E27FC236}">
                <a16:creationId xmlns:a16="http://schemas.microsoft.com/office/drawing/2014/main" id="{A1BFEF92-C19F-4F59-8ADB-3424046E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153275"/>
            <a:ext cx="459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rPr>
              <a:t>ORACLE N = 8</a:t>
            </a:r>
          </a:p>
        </p:txBody>
      </p:sp>
      <p:sp>
        <p:nvSpPr>
          <p:cNvPr id="143" name="metric-oracle-value">
            <a:extLst xmlns:a="http://schemas.openxmlformats.org/drawingml/2006/main">
              <a:ext uri="{FF2B5EF4-FFF2-40B4-BE49-F238E27FC236}">
                <a16:creationId xmlns:a16="http://schemas.microsoft.com/office/drawing/2014/main" id="{B2958FA8-986B-44DB-8583-940FEA15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7343775"/>
            <a:ext cx="4629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0.9339  ·  0.7896</a:t>
            </a:r>
          </a:p>
        </p:txBody>
      </p:sp>
      <p:sp>
        <p:nvSpPr>
          <p:cNvPr id="144" name="metric-oracle-detail">
            <a:extLst xmlns:a="http://schemas.openxmlformats.org/drawingml/2006/main">
              <a:ext uri="{FF2B5EF4-FFF2-40B4-BE49-F238E27FC236}">
                <a16:creationId xmlns:a16="http://schemas.microsoft.com/office/drawing/2014/main" id="{F7374EBE-DD82-4143-A7EE-9CDF5FAA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7686675"/>
            <a:ext cx="462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F6B7A"/>
                </a:solidFill>
                <a:latin typeface="Times New Roman"/>
                <a:ea typeface="Times New Roman"/>
                <a:cs typeface="Times New Roman"/>
              </a:rPr>
              <a:t>DocVQA · ChartQA with gold-reference selection</a:t>
            </a:r>
          </a:p>
        </p:txBody>
      </p:sp>
      <p:sp>
        <p:nvSpPr>
          <p:cNvPr id="145" name="footer-strip">
            <a:extLst xmlns:a="http://schemas.openxmlformats.org/drawingml/2006/main">
              <a:ext uri="{FF2B5EF4-FFF2-40B4-BE49-F238E27FC236}">
                <a16:creationId xmlns:a16="http://schemas.microsoft.com/office/drawing/2014/main" id="{71C56CF2-DC67-488A-9784-936C0789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62925"/>
            <a:ext cx="1432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C67B14"/>
            </a:solidFill>
            <a:prstDash val="solid"/>
          </a:ln>
        </p:spPr>
      </p:sp>
      <p:sp>
        <p:nvSpPr>
          <p:cNvPr id="146" name="footer-text">
            <a:extLst xmlns:a="http://schemas.openxmlformats.org/drawingml/2006/main">
              <a:ext uri="{FF2B5EF4-FFF2-40B4-BE49-F238E27FC236}">
                <a16:creationId xmlns:a16="http://schemas.microsoft.com/office/drawing/2014/main" id="{2F60E900-0584-4159-B4E7-7DAD46C8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62925"/>
            <a:ext cx="1413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C67B14"/>
                </a:solidFill>
                <a:latin typeface="Times New Roman"/>
                <a:ea typeface="Times New Roman"/>
                <a:cs typeface="Times New Roman"/>
              </a:rPr>
              <a:t>Cumulative staged study · Best-of-N is validation-time oracle analysis, not a deployment claim</a:t>
            </a:r>
          </a:p>
        </p:txBody>
      </p:sp>
    </p:spTree>
    <p:extLst>
      <p:ext uri="{BB962C8B-B14F-4D97-AF65-F5344CB8AC3E}">
        <p14:creationId xmlns:p14="http://schemas.microsoft.com/office/powerpoint/2010/main" val="752296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2026-08-10T10:36:26.1330000Z</dcterms:created>
  <dcterms:modified xsi:type="dcterms:W3CDTF">2026-08-10T10:36:26.1330000Z</dcterms:modified>
</coreProperties>
</file>